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Posts (records) per month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C2185B"/>
            </a:solidFill>
            <a:ln w="38100" cap="flat">
              <a:solidFill>
                <a:srgbClr val="C218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2185B"/>
              </a:solidFill>
              <a:ln w="9525" cap="flat">
                <a:solidFill>
                  <a:srgbClr val="C218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Apr 24</c:v>
                  </c:pt>
                  <c:pt idx="1">
                    <c:v>May 24</c:v>
                  </c:pt>
                  <c:pt idx="2">
                    <c:v>Jun 24</c:v>
                  </c:pt>
                  <c:pt idx="3">
                    <c:v>Jul 24</c:v>
                  </c:pt>
                  <c:pt idx="4">
                    <c:v>Aug 24</c:v>
                  </c:pt>
                  <c:pt idx="5">
                    <c:v>Sep 24</c:v>
                  </c:pt>
                  <c:pt idx="6">
                    <c:v>Oct 24</c:v>
                  </c:pt>
                  <c:pt idx="7">
                    <c:v>Nov 24</c:v>
                  </c:pt>
                  <c:pt idx="8">
                    <c:v>Dec 24</c:v>
                  </c:pt>
                  <c:pt idx="9">
                    <c:v>Jan 25</c:v>
                  </c:pt>
                  <c:pt idx="10">
                    <c:v>Feb 25</c:v>
                  </c:pt>
                  <c:pt idx="11">
                    <c:v>Mar 25</c:v>
                  </c:pt>
                  <c:pt idx="12">
                    <c:v>Apr 25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1626</c:v>
                </c:pt>
                <c:pt idx="1">
                  <c:v>4250</c:v>
                </c:pt>
                <c:pt idx="2">
                  <c:v>4232</c:v>
                </c:pt>
                <c:pt idx="3">
                  <c:v>4121</c:v>
                </c:pt>
                <c:pt idx="4">
                  <c:v>4242</c:v>
                </c:pt>
                <c:pt idx="5">
                  <c:v>4160</c:v>
                </c:pt>
                <c:pt idx="6">
                  <c:v>4225</c:v>
                </c:pt>
                <c:pt idx="7">
                  <c:v>4075</c:v>
                </c:pt>
                <c:pt idx="8">
                  <c:v>4296</c:v>
                </c:pt>
                <c:pt idx="9">
                  <c:v>4244</c:v>
                </c:pt>
                <c:pt idx="10">
                  <c:v>3930</c:v>
                </c:pt>
                <c:pt idx="11">
                  <c:v>4139</c:v>
                </c:pt>
                <c:pt idx="12">
                  <c:v>2460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0"/>
        <c:axPos val="l"/>
        <c:majorGridlines>
          <c:spPr>
            <a:ln w="6350" cap="flat">
              <a:solidFill>
                <a:srgbClr val="E7E9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Avg engagement rate by post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(%)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Reel</c:v>
                  </c:pt>
                  <c:pt idx="1">
                    <c:v>Story</c:v>
                  </c:pt>
                  <c:pt idx="2">
                    <c:v>Video</c:v>
                  </c:pt>
                  <c:pt idx="3">
                    <c:v>Image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18.608</c:v>
                </c:pt>
                <c:pt idx="1">
                  <c:v>18.598</c:v>
                </c:pt>
                <c:pt idx="2">
                  <c:v>18.506</c:v>
                </c:pt>
                <c:pt idx="3">
                  <c:v>18.427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7E9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Avg engagement rate by weekday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(%)</c:v>
                </c:pt>
              </c:strCache>
            </c:strRef>
          </c:tx>
          <c:spPr>
            <a:solidFill>
              <a:srgbClr val="B9BEC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18.481</c:v>
                </c:pt>
                <c:pt idx="1">
                  <c:v>18.574</c:v>
                </c:pt>
                <c:pt idx="2">
                  <c:v>18.629</c:v>
                </c:pt>
                <c:pt idx="3">
                  <c:v>18.477</c:v>
                </c:pt>
                <c:pt idx="4">
                  <c:v>18.568</c:v>
                </c:pt>
                <c:pt idx="5">
                  <c:v>18.595</c:v>
                </c:pt>
                <c:pt idx="6">
                  <c:v>18.417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7E9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Avg engagement rate by hashtag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(%)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#VeganBeauty</c:v>
                  </c:pt>
                  <c:pt idx="1">
                    <c:v>#BoldLooks</c:v>
                  </c:pt>
                  <c:pt idx="2">
                    <c:v>#CrueltyFree</c:v>
                  </c:pt>
                  <c:pt idx="3">
                    <c:v>#SugarCosmetics</c:v>
                  </c:pt>
                  <c:pt idx="4">
                    <c:v>#MakeupGoals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18.605</c:v>
                </c:pt>
                <c:pt idx="1">
                  <c:v>18.582</c:v>
                </c:pt>
                <c:pt idx="2">
                  <c:v>18.541</c:v>
                </c:pt>
                <c:pt idx="3">
                  <c:v>18.522</c:v>
                </c:pt>
                <c:pt idx="4">
                  <c:v>18.508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b"/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Avg engagement rate by campaign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(%)</c:v>
                </c:pt>
              </c:strCache>
            </c:strRef>
          </c:tx>
          <c:spPr>
            <a:solidFill>
              <a:srgbClr val="C218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Influencer Collab</c:v>
                  </c:pt>
                  <c:pt idx="1">
                    <c:v>Tutorial</c:v>
                  </c:pt>
                  <c:pt idx="2">
                    <c:v>Giveaway</c:v>
                  </c:pt>
                  <c:pt idx="3">
                    <c:v>Product Launch</c:v>
                  </c:pt>
                  <c:pt idx="4">
                    <c:v>Festive Offer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18.595</c:v>
                </c:pt>
                <c:pt idx="1">
                  <c:v>18.583</c:v>
                </c:pt>
                <c:pt idx="2">
                  <c:v>18.565</c:v>
                </c:pt>
                <c:pt idx="3">
                  <c:v>18.493</c:v>
                </c:pt>
                <c:pt idx="4">
                  <c:v>18.437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b"/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0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0"/>
                </a:solidFill>
                <a:latin typeface="Calibri"/>
              </a:rPr>
              <a:t>Engagement funnel (% of impressions)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impressions</c:v>
                </c:pt>
              </c:strCache>
            </c:strRef>
          </c:tx>
          <c:spPr>
            <a:solidFill>
              <a:srgbClr val="B9BEC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E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2185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Impressions</c:v>
                  </c:pt>
                  <c:pt idx="1">
                    <c:v>Reach</c:v>
                  </c:pt>
                  <c:pt idx="2">
                    <c:v>Likes</c:v>
                  </c:pt>
                  <c:pt idx="3">
                    <c:v>Comments</c:v>
                  </c:pt>
                  <c:pt idx="4">
                    <c:v>Saves</c:v>
                  </c:pt>
                  <c:pt idx="5">
                    <c:v>Shares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77.4</c:v>
                </c:pt>
                <c:pt idx="2">
                  <c:v>11.6</c:v>
                </c:pt>
                <c:pt idx="3">
                  <c:v>1.4</c:v>
                </c:pt>
                <c:pt idx="4">
                  <c:v>0.7</c:v>
                </c:pt>
                <c:pt idx="5">
                  <c:v>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headline: performance is healthy and steady, but the data does not show a single winning format, day or hashtag. The opportunity is reach, deeper engagement and follower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carry the story. The best-to-worst gaps across every lever are all about one percent or less, so effort should go to reach, depth of engagement and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and last bars look low only because the file starts and ends on 19 April.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Axes start at zero deliberately: the honest picture is that the bars are the same height. Hour of posting is not in the data and should be captured.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Hashtag test is indicative because a post with several hashtags counts once per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Comments, saves and shares signal intent and virality, so they are the quality lever. Shares and saves are shown in the order of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dot is a record; the pink dots are the 6.2% of records in the high-reach, low-engagement corner.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Campaign ideas: tutorial Reels series, influencer takeovers with giveaways, festive offer Stories with polls, vegan and cruelty-free values content, profile-visit nudges on high-reach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A1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· Instagram Performance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 title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Performance Analytics</a:t>
            </a:r>
            <a:endParaRPr lang="en-US" sz="4800" dirty="0"/>
          </a:p>
        </p:txBody>
      </p:sp>
      <p:sp>
        <p:nvSpPr>
          <p:cNvPr id="3" name="Deck subtitle"/>
          <p:cNvSpPr txBox="1"/>
          <p:nvPr/>
        </p:nvSpPr>
        <p:spPr>
          <a:xfrm>
            <a:off x="73152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3A6C4"/>
                </a:solidFill>
              </a:rPr>
              <a:t>What 50,000 Sugar Cosmetics posts tell us about engagement, and where to focus next</a:t>
            </a:r>
            <a:endParaRPr lang="en-US" sz="2200" dirty="0"/>
          </a:p>
        </p:txBody>
      </p:sp>
      <p:sp>
        <p:nvSpPr>
          <p:cNvPr id="4" name="Deck byline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2D0"/>
                </a:solidFill>
              </a:rPr>
              <a:t>Stakeholder briefing  ·  Data window 19 Apr 2024 – 19 Apr 2025  ·  Prepared by Suman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and steady, but no proven winner</a:t>
            </a:r>
            <a:endParaRPr lang="en-US" sz="3000" dirty="0"/>
          </a:p>
        </p:txBody>
      </p:sp>
      <p:sp>
        <p:nvSpPr>
          <p:cNvPr id="3" name="KPI ER card"/>
          <p:cNvSpPr/>
          <p:nvPr/>
        </p:nvSpPr>
        <p:spPr>
          <a:xfrm>
            <a:off x="548640" y="14630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KPI ER value"/>
          <p:cNvSpPr txBox="1"/>
          <p:nvPr/>
        </p:nvSpPr>
        <p:spPr>
          <a:xfrm>
            <a:off x="685800" y="16276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18.54%</a:t>
            </a:r>
            <a:endParaRPr lang="en-US" sz="3600" dirty="0"/>
          </a:p>
        </p:txBody>
      </p:sp>
      <p:sp>
        <p:nvSpPr>
          <p:cNvPr id="5" name="KPI ER label"/>
          <p:cNvSpPr txBox="1"/>
          <p:nvPr/>
        </p:nvSpPr>
        <p:spPr>
          <a:xfrm>
            <a:off x="68580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Average engagement rate</a:t>
            </a:r>
            <a:endParaRPr lang="en-US" sz="1400" dirty="0"/>
          </a:p>
        </p:txBody>
      </p:sp>
      <p:sp>
        <p:nvSpPr>
          <p:cNvPr id="6" name="KPI reach card"/>
          <p:cNvSpPr/>
          <p:nvPr/>
        </p:nvSpPr>
        <p:spPr>
          <a:xfrm>
            <a:off x="3337560" y="14630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KPI reach value"/>
          <p:cNvSpPr txBox="1"/>
          <p:nvPr/>
        </p:nvSpPr>
        <p:spPr>
          <a:xfrm>
            <a:off x="3474720" y="16276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987.42M</a:t>
            </a:r>
            <a:endParaRPr lang="en-US" sz="3600" dirty="0"/>
          </a:p>
        </p:txBody>
      </p:sp>
      <p:sp>
        <p:nvSpPr>
          <p:cNvPr id="8" name="KPI reach label"/>
          <p:cNvSpPr txBox="1"/>
          <p:nvPr/>
        </p:nvSpPr>
        <p:spPr>
          <a:xfrm>
            <a:off x="347472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Total reach (summed across posts)</a:t>
            </a:r>
            <a:endParaRPr lang="en-US" sz="1400" dirty="0"/>
          </a:p>
        </p:txBody>
      </p:sp>
      <p:sp>
        <p:nvSpPr>
          <p:cNvPr id="9" name="KPI gap card"/>
          <p:cNvSpPr/>
          <p:nvPr/>
        </p:nvSpPr>
        <p:spPr>
          <a:xfrm>
            <a:off x="6126480" y="14630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KPI gap value"/>
          <p:cNvSpPr txBox="1"/>
          <p:nvPr/>
        </p:nvSpPr>
        <p:spPr>
          <a:xfrm>
            <a:off x="6263640" y="16276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1.2%</a:t>
            </a:r>
            <a:endParaRPr lang="en-US" sz="3600" dirty="0"/>
          </a:p>
        </p:txBody>
      </p:sp>
      <p:sp>
        <p:nvSpPr>
          <p:cNvPr id="11" name="KPI gap label"/>
          <p:cNvSpPr txBox="1"/>
          <p:nvPr/>
        </p:nvSpPr>
        <p:spPr>
          <a:xfrm>
            <a:off x="626364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Best-to-worst gap on every lever tested</a:t>
            </a:r>
            <a:endParaRPr lang="en-US" sz="1400" dirty="0"/>
          </a:p>
        </p:txBody>
      </p:sp>
      <p:sp>
        <p:nvSpPr>
          <p:cNvPr id="12" name="KPI follow card"/>
          <p:cNvSpPr/>
          <p:nvPr/>
        </p:nvSpPr>
        <p:spPr>
          <a:xfrm>
            <a:off x="8915400" y="146304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KPI follow value"/>
          <p:cNvSpPr txBox="1"/>
          <p:nvPr/>
        </p:nvSpPr>
        <p:spPr>
          <a:xfrm>
            <a:off x="9052560" y="1627632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3600" dirty="0"/>
          </a:p>
        </p:txBody>
      </p:sp>
      <p:sp>
        <p:nvSpPr>
          <p:cNvPr id="14" name="KPI follow label"/>
          <p:cNvSpPr txBox="1"/>
          <p:nvPr/>
        </p:nvSpPr>
        <p:spPr>
          <a:xfrm>
            <a:off x="9052560" y="22860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Of profile visitors follow the account</a:t>
            </a:r>
            <a:endParaRPr lang="en-US" sz="1400" dirty="0"/>
          </a:p>
        </p:txBody>
      </p:sp>
      <p:sp>
        <p:nvSpPr>
          <p:cNvPr id="15" name="Summary head 1"/>
          <p:cNvSpPr txBox="1"/>
          <p:nvPr/>
        </p:nvSpPr>
        <p:spPr>
          <a:xfrm>
            <a:off x="54864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800" dirty="0"/>
          </a:p>
        </p:txBody>
      </p:sp>
      <p:sp>
        <p:nvSpPr>
          <p:cNvPr id="16" name="Summary text 1"/>
          <p:cNvSpPr txBox="1"/>
          <p:nvPr/>
        </p:nvSpPr>
        <p:spPr>
          <a:xfrm>
            <a:off x="338328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Engagement rate holds at about 18.5% every month. Reel, Story, Video and Image differ by only 0.18 points, and no gap is statistically significant.</a:t>
            </a:r>
            <a:endParaRPr lang="en-US" sz="1600" dirty="0"/>
          </a:p>
        </p:txBody>
      </p:sp>
      <p:sp>
        <p:nvSpPr>
          <p:cNvPr id="17" name="Summary head 2"/>
          <p:cNvSpPr txBox="1"/>
          <p:nvPr/>
        </p:nvSpPr>
        <p:spPr>
          <a:xfrm>
            <a:off x="548640" y="4160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opportunity is</a:t>
            </a:r>
            <a:endParaRPr lang="en-US" sz="1800" dirty="0"/>
          </a:p>
        </p:txBody>
      </p:sp>
      <p:sp>
        <p:nvSpPr>
          <p:cNvPr id="18" name="Summary text 2"/>
          <p:cNvSpPr txBox="1"/>
          <p:nvPr/>
        </p:nvSpPr>
        <p:spPr>
          <a:xfrm>
            <a:off x="3383280" y="4160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Reach drives volume, likes are 81% of interactions, and 6.2% of posts were widely seen but barely engaged with.</a:t>
            </a:r>
            <a:endParaRPr lang="en-US" sz="1600" dirty="0"/>
          </a:p>
        </p:txBody>
      </p:sp>
      <p:sp>
        <p:nvSpPr>
          <p:cNvPr id="19" name="Summary head 3"/>
          <p:cNvSpPr txBox="1"/>
          <p:nvPr/>
        </p:nvSpPr>
        <p:spPr>
          <a:xfrm>
            <a:off x="548640" y="5212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</a:t>
            </a:r>
            <a:endParaRPr lang="en-US" sz="1800" dirty="0"/>
          </a:p>
        </p:txBody>
      </p:sp>
      <p:sp>
        <p:nvSpPr>
          <p:cNvPr id="20" name="Summary text 3"/>
          <p:cNvSpPr txBox="1"/>
          <p:nvPr/>
        </p:nvSpPr>
        <p:spPr>
          <a:xfrm>
            <a:off x="3383280" y="5212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</a:rPr>
              <a:t>Scale reach, deepen engagement beyond likes, lift profile-to-follow conversion, and A/B test before shifting the content mix.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 and engagement are consistent month to month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ini Likes card"/>
          <p:cNvSpPr/>
          <p:nvPr/>
        </p:nvSpPr>
        <p:spPr>
          <a:xfrm>
            <a:off x="8321040" y="146304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Mini Likes value"/>
          <p:cNvSpPr txBox="1"/>
          <p:nvPr/>
        </p:nvSpPr>
        <p:spPr>
          <a:xfrm>
            <a:off x="8412480" y="1645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147.73M</a:t>
            </a:r>
            <a:endParaRPr lang="en-US" sz="2400" dirty="0"/>
          </a:p>
        </p:txBody>
      </p:sp>
      <p:sp>
        <p:nvSpPr>
          <p:cNvPr id="6" name="Mini Likes label"/>
          <p:cNvSpPr txBox="1"/>
          <p:nvPr/>
        </p:nvSpPr>
        <p:spPr>
          <a:xfrm>
            <a:off x="841248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Likes</a:t>
            </a:r>
            <a:endParaRPr lang="en-US" sz="1400" dirty="0"/>
          </a:p>
        </p:txBody>
      </p:sp>
      <p:sp>
        <p:nvSpPr>
          <p:cNvPr id="7" name="Mini Comments card"/>
          <p:cNvSpPr/>
          <p:nvPr/>
        </p:nvSpPr>
        <p:spPr>
          <a:xfrm>
            <a:off x="10012680" y="146304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Mini Comments value"/>
          <p:cNvSpPr txBox="1"/>
          <p:nvPr/>
        </p:nvSpPr>
        <p:spPr>
          <a:xfrm>
            <a:off x="10104120" y="1645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18.46M</a:t>
            </a:r>
            <a:endParaRPr lang="en-US" sz="2400" dirty="0"/>
          </a:p>
        </p:txBody>
      </p:sp>
      <p:sp>
        <p:nvSpPr>
          <p:cNvPr id="9" name="Mini Comments label"/>
          <p:cNvSpPr txBox="1"/>
          <p:nvPr/>
        </p:nvSpPr>
        <p:spPr>
          <a:xfrm>
            <a:off x="1010412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Comments</a:t>
            </a:r>
            <a:endParaRPr lang="en-US" sz="1400" dirty="0"/>
          </a:p>
        </p:txBody>
      </p:sp>
      <p:sp>
        <p:nvSpPr>
          <p:cNvPr id="10" name="Mini Total interactions card"/>
          <p:cNvSpPr/>
          <p:nvPr/>
        </p:nvSpPr>
        <p:spPr>
          <a:xfrm>
            <a:off x="8321040" y="29260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Mini Total interactions value"/>
          <p:cNvSpPr txBox="1"/>
          <p:nvPr/>
        </p:nvSpPr>
        <p:spPr>
          <a:xfrm>
            <a:off x="841248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183.16M</a:t>
            </a:r>
            <a:endParaRPr lang="en-US" sz="2400" dirty="0"/>
          </a:p>
        </p:txBody>
      </p:sp>
      <p:sp>
        <p:nvSpPr>
          <p:cNvPr id="12" name="Mini Total interactions label"/>
          <p:cNvSpPr txBox="1"/>
          <p:nvPr/>
        </p:nvSpPr>
        <p:spPr>
          <a:xfrm>
            <a:off x="8412480" y="3657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Total interactions</a:t>
            </a:r>
            <a:endParaRPr lang="en-US" sz="1400" dirty="0"/>
          </a:p>
        </p:txBody>
      </p:sp>
      <p:sp>
        <p:nvSpPr>
          <p:cNvPr id="13" name="Mini Impressions card"/>
          <p:cNvSpPr/>
          <p:nvPr/>
        </p:nvSpPr>
        <p:spPr>
          <a:xfrm>
            <a:off x="10012680" y="2926080"/>
            <a:ext cx="1554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Mini Impressions value"/>
          <p:cNvSpPr txBox="1"/>
          <p:nvPr/>
        </p:nvSpPr>
        <p:spPr>
          <a:xfrm>
            <a:off x="1010412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1.28B</a:t>
            </a:r>
            <a:endParaRPr lang="en-US" sz="2400" dirty="0"/>
          </a:p>
        </p:txBody>
      </p:sp>
      <p:sp>
        <p:nvSpPr>
          <p:cNvPr id="15" name="Mini Impressions label"/>
          <p:cNvSpPr txBox="1"/>
          <p:nvPr/>
        </p:nvSpPr>
        <p:spPr>
          <a:xfrm>
            <a:off x="10104120" y="3657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Impressions</a:t>
            </a:r>
            <a:endParaRPr lang="en-US" sz="1400" dirty="0"/>
          </a:p>
        </p:txBody>
      </p:sp>
      <p:sp>
        <p:nvSpPr>
          <p:cNvPr id="16" name="Partial month note"/>
          <p:cNvSpPr txBox="1"/>
          <p:nvPr/>
        </p:nvSpPr>
        <p:spPr>
          <a:xfrm>
            <a:off x="8321040" y="4480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April 2024 and April 2025 are partial months (data runs 19 Apr to 19 Apr).</a:t>
            </a:r>
            <a:endParaRPr lang="en-US" sz="1200" dirty="0"/>
          </a:p>
        </p:txBody>
      </p:sp>
      <p:sp>
        <p:nvSpPr>
          <p:cNvPr id="17" name="Insight box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DF2F7"/>
          </a:solidFill>
          <a:ln w="6350">
            <a:solidFill>
              <a:srgbClr val="FDF2F7"/>
            </a:solidFill>
            <a:prstDash val="solid"/>
          </a:ln>
        </p:spPr>
      </p:sp>
      <p:sp>
        <p:nvSpPr>
          <p:cNvPr id="18" name="Insight text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Cadence is a strength: about 4,100 records a month with no seasonal gaps, and engagement rate stays near 18.5% throughout.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 and weekday barely move engagement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3716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Insight box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DF2F7"/>
          </a:solidFill>
          <a:ln w="6350">
            <a:solidFill>
              <a:srgbClr val="FDF2F7"/>
            </a:solidFill>
            <a:prstDash val="solid"/>
          </a:ln>
        </p:spPr>
      </p:sp>
      <p:sp>
        <p:nvSpPr>
          <p:cNvPr id="6" name="Insight text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Reel (18.61%) and Wednesday (18.63%) lead, but gaps are 1.0% and 1.1% and not significant (p = 0.15 and 0.57).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Hashtags and campaigns perform alike too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3716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Insight box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DF2F7"/>
          </a:solidFill>
          <a:ln w="6350">
            <a:solidFill>
              <a:srgbClr val="FDF2F7"/>
            </a:solidFill>
            <a:prstDash val="solid"/>
          </a:ln>
        </p:spPr>
      </p:sp>
      <p:sp>
        <p:nvSpPr>
          <p:cNvPr id="6" name="Insight text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#VeganBeauty and Influencer Collab lead on paper, yet gaps are only 0.5% and 0.9%. Keep the brand and values hashtags; test, don't reallocate.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see content but rarely go deeper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unnel PV card"/>
          <p:cNvSpPr/>
          <p:nvPr/>
        </p:nvSpPr>
        <p:spPr>
          <a:xfrm>
            <a:off x="7863840" y="14630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Funnel PV value"/>
          <p:cNvSpPr txBox="1"/>
          <p:nvPr/>
        </p:nvSpPr>
        <p:spPr>
          <a:xfrm>
            <a:off x="8001000" y="16276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3.0%</a:t>
            </a:r>
            <a:endParaRPr lang="en-US" sz="3600" dirty="0"/>
          </a:p>
        </p:txBody>
      </p:sp>
      <p:sp>
        <p:nvSpPr>
          <p:cNvPr id="6" name="Funnel PV label"/>
          <p:cNvSpPr txBox="1"/>
          <p:nvPr/>
        </p:nvSpPr>
        <p:spPr>
          <a:xfrm>
            <a:off x="800100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Of reached accounts visit the profile</a:t>
            </a:r>
            <a:endParaRPr lang="en-US" sz="1400" dirty="0"/>
          </a:p>
        </p:txBody>
      </p:sp>
      <p:sp>
        <p:nvSpPr>
          <p:cNvPr id="7" name="Funnel follow card"/>
          <p:cNvSpPr/>
          <p:nvPr/>
        </p:nvSpPr>
        <p:spPr>
          <a:xfrm>
            <a:off x="7863840" y="29718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Funnel follow value"/>
          <p:cNvSpPr txBox="1"/>
          <p:nvPr/>
        </p:nvSpPr>
        <p:spPr>
          <a:xfrm>
            <a:off x="8001000" y="31363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29.9%</a:t>
            </a:r>
            <a:endParaRPr lang="en-US" sz="3600" dirty="0"/>
          </a:p>
        </p:txBody>
      </p:sp>
      <p:sp>
        <p:nvSpPr>
          <p:cNvPr id="9" name="Funnel follow label"/>
          <p:cNvSpPr txBox="1"/>
          <p:nvPr/>
        </p:nvSpPr>
        <p:spPr>
          <a:xfrm>
            <a:off x="8001000" y="3794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Of profile visitors follow (exploratory metric)</a:t>
            </a:r>
            <a:endParaRPr lang="en-US" sz="1400" dirty="0"/>
          </a:p>
        </p:txBody>
      </p:sp>
      <p:sp>
        <p:nvSpPr>
          <p:cNvPr id="10" name="Funnel note"/>
          <p:cNvSpPr txBox="1"/>
          <p:nvPr/>
        </p:nvSpPr>
        <p:spPr>
          <a:xfrm>
            <a:off x="7863840" y="45720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Likes are 81% of interactions; comments, saves and shares add just 19%.</a:t>
            </a:r>
            <a:endParaRPr lang="en-US" sz="1400" dirty="0"/>
          </a:p>
        </p:txBody>
      </p:sp>
      <p:sp>
        <p:nvSpPr>
          <p:cNvPr id="11" name="Insight box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DF2F7"/>
          </a:solidFill>
          <a:ln w="6350">
            <a:solidFill>
              <a:srgbClr val="FDF2F7"/>
            </a:solidFill>
            <a:prstDash val="solid"/>
          </a:ln>
        </p:spPr>
      </p:sp>
      <p:sp>
        <p:nvSpPr>
          <p:cNvPr id="12" name="Insight text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77 of every 100 impressions are unique accounts and about 12 become likes. The big drop-off is from seeing to commenting, saving and sharing.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reach brings more likes, not better engagement</a:t>
            </a:r>
            <a:endParaRPr lang="en-US" sz="3000" dirty="0"/>
          </a:p>
        </p:txBody>
      </p:sp>
      <p:pic>
        <p:nvPicPr>
          <p:cNvPr id="3" name="Image 0" descr="Scatter of reach against engagement rate; high-reach, low-engagement posts highligh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3566160"/>
          </a:xfrm>
          <a:prstGeom prst="rect">
            <a:avLst/>
          </a:prstGeom>
        </p:spPr>
      </p:pic>
      <p:sp>
        <p:nvSpPr>
          <p:cNvPr id="4" name="Gap count card"/>
          <p:cNvSpPr/>
          <p:nvPr/>
        </p:nvSpPr>
        <p:spPr>
          <a:xfrm>
            <a:off x="7863840" y="14630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Gap count value"/>
          <p:cNvSpPr txBox="1"/>
          <p:nvPr/>
        </p:nvSpPr>
        <p:spPr>
          <a:xfrm>
            <a:off x="8001000" y="16276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3,117</a:t>
            </a:r>
            <a:endParaRPr lang="en-US" sz="3600" dirty="0"/>
          </a:p>
        </p:txBody>
      </p:sp>
      <p:sp>
        <p:nvSpPr>
          <p:cNvPr id="6" name="Gap count label"/>
          <p:cNvSpPr txBox="1"/>
          <p:nvPr/>
        </p:nvSpPr>
        <p:spPr>
          <a:xfrm>
            <a:off x="800100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Records (6.2%) with top-25% reach but bottom-25% engagement</a:t>
            </a:r>
            <a:endParaRPr lang="en-US" sz="1400" dirty="0"/>
          </a:p>
        </p:txBody>
      </p:sp>
      <p:sp>
        <p:nvSpPr>
          <p:cNvPr id="7" name="Correlation card"/>
          <p:cNvSpPr/>
          <p:nvPr/>
        </p:nvSpPr>
        <p:spPr>
          <a:xfrm>
            <a:off x="7863840" y="297180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Correlation value"/>
          <p:cNvSpPr txBox="1"/>
          <p:nvPr/>
        </p:nvSpPr>
        <p:spPr>
          <a:xfrm>
            <a:off x="8001000" y="31363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218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0.79</a:t>
            </a:r>
            <a:endParaRPr lang="en-US" sz="3600" dirty="0"/>
          </a:p>
        </p:txBody>
      </p:sp>
      <p:sp>
        <p:nvSpPr>
          <p:cNvPr id="9" name="Correlation label"/>
          <p:cNvSpPr txBox="1"/>
          <p:nvPr/>
        </p:nvSpPr>
        <p:spPr>
          <a:xfrm>
            <a:off x="8001000" y="3794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Reach vs likes. Reach vs engagement rate: r = 0.00</a:t>
            </a:r>
            <a:endParaRPr lang="en-US" sz="1400" dirty="0"/>
          </a:p>
        </p:txBody>
      </p:sp>
      <p:sp>
        <p:nvSpPr>
          <p:cNvPr id="10" name="Hidden gems note"/>
          <p:cNvSpPr txBox="1"/>
          <p:nvPr/>
        </p:nvSpPr>
        <p:spPr>
          <a:xfrm>
            <a:off x="548640" y="49834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Top engagement-rate posts reach 34% with below-average reach (median 23,486). None of them are in the top 10 by likes.</a:t>
            </a:r>
            <a:endParaRPr lang="en-US" sz="1400" dirty="0"/>
          </a:p>
        </p:txBody>
      </p:sp>
      <p:sp>
        <p:nvSpPr>
          <p:cNvPr id="11" name="Insight box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DF2F7"/>
          </a:solidFill>
          <a:ln w="6350">
            <a:solidFill>
              <a:srgbClr val="FDF2F7"/>
            </a:solidFill>
            <a:prstDash val="solid"/>
          </a:ln>
        </p:spPr>
      </p:sp>
      <p:sp>
        <p:nvSpPr>
          <p:cNvPr id="12" name="Insight text"/>
          <p:cNvSpPr txBox="1"/>
          <p:nvPr/>
        </p:nvSpPr>
        <p:spPr>
          <a:xfrm>
            <a:off x="731520" y="56692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Highly visible posts that fail to convert attention into action are the clearest content to fix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actions to grow reach, depth and followers</a:t>
            </a:r>
            <a:endParaRPr lang="en-US" sz="3000" dirty="0"/>
          </a:p>
        </p:txBody>
      </p:sp>
      <p:sp>
        <p:nvSpPr>
          <p:cNvPr id="3" name="Rec 1 card"/>
          <p:cNvSpPr/>
          <p:nvPr/>
        </p:nvSpPr>
        <p:spPr>
          <a:xfrm>
            <a:off x="54864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Rec 1 badge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5" name="Rec 1 number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c 1 title"/>
          <p:cNvSpPr txBox="1"/>
          <p:nvPr/>
        </p:nvSpPr>
        <p:spPr>
          <a:xfrm>
            <a:off x="132588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reach</a:t>
            </a:r>
            <a:endParaRPr lang="en-US" sz="1800" dirty="0"/>
          </a:p>
        </p:txBody>
      </p:sp>
      <p:sp>
        <p:nvSpPr>
          <p:cNvPr id="7" name="Rec 1 text"/>
          <p:cNvSpPr txBox="1"/>
          <p:nvPr/>
        </p:nvSpPr>
        <p:spPr>
          <a:xfrm>
            <a:off x="777240" y="21945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Boost proven creatives and expand influencer collabs. Each 1,000 reached yields about 185 interactions.</a:t>
            </a:r>
            <a:endParaRPr lang="en-US" sz="1400" dirty="0"/>
          </a:p>
        </p:txBody>
      </p:sp>
      <p:sp>
        <p:nvSpPr>
          <p:cNvPr id="8" name="Rec 2 card"/>
          <p:cNvSpPr/>
          <p:nvPr/>
        </p:nvSpPr>
        <p:spPr>
          <a:xfrm>
            <a:off x="429768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Rec 2 badge"/>
          <p:cNvSpPr/>
          <p:nvPr/>
        </p:nvSpPr>
        <p:spPr>
          <a:xfrm>
            <a:off x="4480560" y="160020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0" name="Rec 2 number"/>
          <p:cNvSpPr txBox="1"/>
          <p:nvPr/>
        </p:nvSpPr>
        <p:spPr>
          <a:xfrm>
            <a:off x="44805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Rec 2 title"/>
          <p:cNvSpPr txBox="1"/>
          <p:nvPr/>
        </p:nvSpPr>
        <p:spPr>
          <a:xfrm>
            <a:off x="507492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seen-but-ignored</a:t>
            </a:r>
            <a:endParaRPr lang="en-US" sz="1800" dirty="0"/>
          </a:p>
        </p:txBody>
      </p:sp>
      <p:sp>
        <p:nvSpPr>
          <p:cNvPr id="12" name="Rec 2 text"/>
          <p:cNvSpPr txBox="1"/>
          <p:nvPr/>
        </p:nvSpPr>
        <p:spPr>
          <a:xfrm>
            <a:off x="4526280" y="21945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Audit the 3,117 high-reach, low-engagement posts: stronger hooks, clear calls-to-action, polls and giveaways.</a:t>
            </a:r>
            <a:endParaRPr lang="en-US" sz="1400" dirty="0"/>
          </a:p>
        </p:txBody>
      </p:sp>
      <p:sp>
        <p:nvSpPr>
          <p:cNvPr id="13" name="Rec 3 card"/>
          <p:cNvSpPr/>
          <p:nvPr/>
        </p:nvSpPr>
        <p:spPr>
          <a:xfrm>
            <a:off x="8046720" y="141732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Rec 3 badge"/>
          <p:cNvSpPr/>
          <p:nvPr/>
        </p:nvSpPr>
        <p:spPr>
          <a:xfrm>
            <a:off x="8229600" y="160020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5" name="Rec 3 number"/>
          <p:cNvSpPr txBox="1"/>
          <p:nvPr/>
        </p:nvSpPr>
        <p:spPr>
          <a:xfrm>
            <a:off x="8229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Rec 3 title"/>
          <p:cNvSpPr txBox="1"/>
          <p:nvPr/>
        </p:nvSpPr>
        <p:spPr>
          <a:xfrm>
            <a:off x="8823960" y="1600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 engagement</a:t>
            </a:r>
            <a:endParaRPr lang="en-US" sz="1800" dirty="0"/>
          </a:p>
        </p:txBody>
      </p:sp>
      <p:sp>
        <p:nvSpPr>
          <p:cNvPr id="17" name="Rec 3 text"/>
          <p:cNvSpPr txBox="1"/>
          <p:nvPr/>
        </p:nvSpPr>
        <p:spPr>
          <a:xfrm>
            <a:off x="8275320" y="219456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Build save-worthy tutorials and share-worthy festive and challenge content to move beyond likes.</a:t>
            </a:r>
            <a:endParaRPr lang="en-US" sz="1400" dirty="0"/>
          </a:p>
        </p:txBody>
      </p:sp>
      <p:sp>
        <p:nvSpPr>
          <p:cNvPr id="18" name="Rec 4 card"/>
          <p:cNvSpPr/>
          <p:nvPr/>
        </p:nvSpPr>
        <p:spPr>
          <a:xfrm>
            <a:off x="54864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Rec 4 badge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0" name="Rec 4 number"/>
          <p:cNvSpPr txBox="1"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Rec 4 title"/>
          <p:cNvSpPr txBox="1"/>
          <p:nvPr/>
        </p:nvSpPr>
        <p:spPr>
          <a:xfrm>
            <a:off x="1325880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visitors</a:t>
            </a:r>
            <a:endParaRPr lang="en-US" sz="1800" dirty="0"/>
          </a:p>
        </p:txBody>
      </p:sp>
      <p:sp>
        <p:nvSpPr>
          <p:cNvPr id="22" name="Rec 4 text"/>
          <p:cNvSpPr txBox="1"/>
          <p:nvPr/>
        </p:nvSpPr>
        <p:spPr>
          <a:xfrm>
            <a:off x="777240" y="45720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Refresh bio, highlights, pinned posts and link-in-bio; add 'follow for shade drops' end frames.</a:t>
            </a:r>
            <a:endParaRPr lang="en-US" sz="1400" dirty="0"/>
          </a:p>
        </p:txBody>
      </p:sp>
      <p:sp>
        <p:nvSpPr>
          <p:cNvPr id="23" name="Rec 5 card"/>
          <p:cNvSpPr/>
          <p:nvPr/>
        </p:nvSpPr>
        <p:spPr>
          <a:xfrm>
            <a:off x="429768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Rec 5 badge"/>
          <p:cNvSpPr/>
          <p:nvPr/>
        </p:nvSpPr>
        <p:spPr>
          <a:xfrm>
            <a:off x="4480560" y="397764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5" name="Rec 5 number"/>
          <p:cNvSpPr txBox="1"/>
          <p:nvPr/>
        </p:nvSpPr>
        <p:spPr>
          <a:xfrm>
            <a:off x="44805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Rec 5 title"/>
          <p:cNvSpPr txBox="1"/>
          <p:nvPr/>
        </p:nvSpPr>
        <p:spPr>
          <a:xfrm>
            <a:off x="5074920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don't guess</a:t>
            </a:r>
            <a:endParaRPr lang="en-US" sz="1800" dirty="0"/>
          </a:p>
        </p:txBody>
      </p:sp>
      <p:sp>
        <p:nvSpPr>
          <p:cNvPr id="27" name="Rec 5 text"/>
          <p:cNvSpPr txBox="1"/>
          <p:nvPr/>
        </p:nvSpPr>
        <p:spPr>
          <a:xfrm>
            <a:off x="4526280" y="45720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Run 4-week A/B tests on format, hashtag count and posting time. Act only on significant results.</a:t>
            </a:r>
            <a:endParaRPr lang="en-US" sz="1400" dirty="0"/>
          </a:p>
        </p:txBody>
      </p:sp>
      <p:sp>
        <p:nvSpPr>
          <p:cNvPr id="28" name="Rec 6 card"/>
          <p:cNvSpPr/>
          <p:nvPr/>
        </p:nvSpPr>
        <p:spPr>
          <a:xfrm>
            <a:off x="8046720" y="37947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Rec 6 badge"/>
          <p:cNvSpPr/>
          <p:nvPr/>
        </p:nvSpPr>
        <p:spPr>
          <a:xfrm>
            <a:off x="8229600" y="3977640"/>
            <a:ext cx="457200" cy="457200"/>
          </a:xfrm>
          <a:prstGeom prst="ellipse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30" name="Rec 6 number"/>
          <p:cNvSpPr txBox="1"/>
          <p:nvPr/>
        </p:nvSpPr>
        <p:spPr>
          <a:xfrm>
            <a:off x="8229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Rec 6 title"/>
          <p:cNvSpPr txBox="1"/>
          <p:nvPr/>
        </p:nvSpPr>
        <p:spPr>
          <a:xfrm>
            <a:off x="8823960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data gaps</a:t>
            </a:r>
            <a:endParaRPr lang="en-US" sz="1800" dirty="0"/>
          </a:p>
        </p:txBody>
      </p:sp>
      <p:sp>
        <p:nvSpPr>
          <p:cNvPr id="32" name="Rec 6 text"/>
          <p:cNvSpPr txBox="1"/>
          <p:nvPr/>
        </p:nvSpPr>
        <p:spPr>
          <a:xfrm>
            <a:off x="8275320" y="45720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</a:rPr>
              <a:t>Capture post ID, caption, posting hour, ad spend and follower count to unlock timing, ROI and growth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xt steps title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4 weeks</a:t>
            </a:r>
            <a:endParaRPr lang="en-US" sz="3600" dirty="0"/>
          </a:p>
        </p:txBody>
      </p:sp>
      <p:sp>
        <p:nvSpPr>
          <p:cNvPr id="3" name="Step 1 label"/>
          <p:cNvSpPr txBox="1"/>
          <p:nvPr/>
        </p:nvSpPr>
        <p:spPr>
          <a:xfrm>
            <a:off x="731520" y="16459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A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2000" dirty="0"/>
          </a:p>
        </p:txBody>
      </p:sp>
      <p:sp>
        <p:nvSpPr>
          <p:cNvPr id="4" name="Step 1 text"/>
          <p:cNvSpPr txBox="1"/>
          <p:nvPr/>
        </p:nvSpPr>
        <p:spPr>
          <a:xfrm>
            <a:off x="2834640" y="1645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Audit high-reach, low-engagement posts; add a comment-driving call-to-action to every post.</a:t>
            </a:r>
            <a:endParaRPr lang="en-US" sz="1800" dirty="0"/>
          </a:p>
        </p:txBody>
      </p:sp>
      <p:sp>
        <p:nvSpPr>
          <p:cNvPr id="5" name="Step 2 label"/>
          <p:cNvSpPr txBox="1"/>
          <p:nvPr/>
        </p:nvSpPr>
        <p:spPr>
          <a:xfrm>
            <a:off x="73152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A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2–3</a:t>
            </a:r>
            <a:endParaRPr lang="en-US" sz="2000" dirty="0"/>
          </a:p>
        </p:txBody>
      </p:sp>
      <p:sp>
        <p:nvSpPr>
          <p:cNvPr id="6" name="Step 2 text"/>
          <p:cNvSpPr txBox="1"/>
          <p:nvPr/>
        </p:nvSpPr>
        <p:spPr>
          <a:xfrm>
            <a:off x="2834640" y="27432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A/B test: same creative as Reel vs Image; 2 vs 3 hashtags; morning vs evening.</a:t>
            </a:r>
            <a:endParaRPr lang="en-US" sz="1800" dirty="0"/>
          </a:p>
        </p:txBody>
      </p:sp>
      <p:sp>
        <p:nvSpPr>
          <p:cNvPr id="7" name="Step 3 label"/>
          <p:cNvSpPr txBox="1"/>
          <p:nvPr/>
        </p:nvSpPr>
        <p:spPr>
          <a:xfrm>
            <a:off x="731520" y="3840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A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000" dirty="0"/>
          </a:p>
        </p:txBody>
      </p:sp>
      <p:sp>
        <p:nvSpPr>
          <p:cNvPr id="8" name="Step 3 text"/>
          <p:cNvSpPr txBox="1"/>
          <p:nvPr/>
        </p:nvSpPr>
        <p:spPr>
          <a:xfrm>
            <a:off x="2834640" y="3840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Read results, keep only statistically significant winners, refresh profile conversion assets.</a:t>
            </a:r>
            <a:endParaRPr lang="en-US" sz="1800" dirty="0"/>
          </a:p>
        </p:txBody>
      </p:sp>
      <p:sp>
        <p:nvSpPr>
          <p:cNvPr id="9" name="Data note box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6667"/>
            </a:avLst>
          </a:prstGeom>
          <a:solidFill>
            <a:srgbClr val="4E1A42"/>
          </a:solidFill>
          <a:ln w="12700">
            <a:solidFill>
              <a:srgbClr val="4E1A42"/>
            </a:solidFill>
            <a:prstDash val="solid"/>
          </a:ln>
        </p:spPr>
      </p:sp>
      <p:sp>
        <p:nvSpPr>
          <p:cNvPr id="10" name="Data note text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CE8"/>
                </a:solidFill>
              </a:rPr>
              <a:t>Data note: the file has no captions or post IDs and about 137 records per day with unusually flat distributions, which suggests synthetic or aggregated data. Treat these results as a validated framework and confirm them on the live Instagram Insights export.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gar Insights">
  <a:themeElements>
    <a:clrScheme name="Sugar Insights">
      <a:dk1>
        <a:srgbClr val="1F2430"/>
      </a:dk1>
      <a:lt1>
        <a:srgbClr val="FFFFFF"/>
      </a:lt1>
      <a:dk2>
        <a:srgbClr val="3A1030"/>
      </a:dk2>
      <a:lt2>
        <a:srgbClr val="F5F6F8"/>
      </a:lt2>
      <a:accent1>
        <a:srgbClr val="C2185B"/>
      </a:accent1>
      <a:accent2>
        <a:srgbClr val="B9BEC8"/>
      </a:accent2>
      <a:accent3>
        <a:srgbClr val="F3A6C4"/>
      </a:accent3>
      <a:accent4>
        <a:srgbClr val="7A0E39"/>
      </a:accent4>
      <a:accent5>
        <a:srgbClr val="6B7280"/>
      </a:accent5>
      <a:accent6>
        <a:srgbClr val="DE5F92"/>
      </a:accent6>
      <a:hlink>
        <a:srgbClr val="C2185B"/>
      </a:hlink>
      <a:folHlink>
        <a:srgbClr val="7A0E39"/>
      </a:folHlink>
    </a:clrScheme>
    <a:fontScheme name="Sugar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Performance Analytics — Sugar Cosmetics</dc:title>
  <dc:subject>PptxGenJS Presentation</dc:subject>
  <dc:creator>Suman</dc:creator>
  <cp:lastModifiedBy>Suman</cp:lastModifiedBy>
  <cp:revision>1</cp:revision>
  <dcterms:created xsi:type="dcterms:W3CDTF">2026-10-15T21:00:25Z</dcterms:created>
  <dcterms:modified xsi:type="dcterms:W3CDTF">2026-10-15T21:00:25Z</dcterms:modified>
</cp:coreProperties>
</file>